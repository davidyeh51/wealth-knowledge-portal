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【採用版型與風格】cover ｜ McKinsey &amp; Company</a:t>
            </a:r>
          </a:p>
          <a:p>
            <a:r>
              <a:t>① 本頁結論：各位好，今天為大家導讀歐洲最年輕上市企業創辦人史蒂文．巴列特的名作《快樂性感的百萬富翁》。</a:t>
            </a:r>
          </a:p>
          <a:p>
            <a:r>
              <a:t>② 補充說明：本書徹底打破現代社會『有錢、性感就會快樂』的假公式，提煉出經過心理學與頂尖商戰驗證的 20 個心智法則。</a:t>
            </a:r>
          </a:p>
          <a:p>
            <a:r>
              <a:t>③ 下一頁轉場：首先，我們透過並列論法縱覽全書的認知躍遷架構。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(Parallel) ｜ Accenture</a:t>
            </a:r>
          </a:p>
          <a:p>
            <a:r>
              <a:t>① 本頁結論：全書 20 個章節並非零碎的散文，而是高度互鎖的認知升級階梯。</a:t>
            </a:r>
          </a:p>
          <a:p>
            <a:r>
              <a:t>② 補充說明：從拆解外在神話出發，接著找尋內在動力，進而在行動中創造熱情，最後以系統工程學實現長期的非對稱躍遷。</a:t>
            </a:r>
          </a:p>
          <a:p>
            <a:r>
              <a:t>③ 下一頁轉場：在所有迷思中，最致命的就是把快樂寄託在未來里程碑的『抵達謬誤』，我們以對立論法深入對比。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6：對立論法 (Opposition) ｜ BCG (Boston Consulting Group)</a:t>
            </a:r>
          </a:p>
          <a:p>
            <a:r>
              <a:t>① 本頁結論：有限遊戲只關心輸贏，而無限遊戲關心的是生命的延續與豐盈。</a:t>
            </a:r>
          </a:p>
          <a:p>
            <a:r>
              <a:t>② 補充說明：史蒂文 28 歲時身價過億卻一度陷入虛空，正是因為他發現抵達終點後並沒有預期中的永恆幸福，這在心理學上稱為抵達謬誤。</a:t>
            </a:r>
          </a:p>
          <a:p>
            <a:r>
              <a:t>③ 下一頁轉場：那麼，為什麼當代人如此容易陷入這種外在比較與焦慮呢？版型 1 將呈現震撼的數據證據。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1：一對一論法 (One-to-One) ｜ McKinsey &amp; Company</a:t>
            </a:r>
          </a:p>
          <a:p>
            <a:r>
              <a:t>① 本頁結論：社群限時動態引發的焦慮高達 70%，遠超過其他所有媒介。</a:t>
            </a:r>
          </a:p>
          <a:p>
            <a:r>
              <a:t>② 補充說明：我們用自己未經剪輯的真實日常，去對標他人精心演繹的精華片段，無疑是一場必輸的心理戰。</a:t>
            </a:r>
          </a:p>
          <a:p>
            <a:r>
              <a:t>③ 下一頁轉場：認清這點後，我們必須學會管理自己的精力，這就引出了著名的橡膠球與水晶球理論。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3：結合論法 (Combined Tree) ｜ BCG (Boston Consulting Group)</a:t>
            </a:r>
          </a:p>
          <a:p>
            <a:r>
              <a:t>① 本頁結論：雜耍高手的秘密不是手速快，而是清楚知道哪顆球碎了會讓人抱憾終生。</a:t>
            </a:r>
          </a:p>
          <a:p>
            <a:r>
              <a:t>② 補充說明：工作只是一顆橡膠球，掉到地上還會彈起來；但健康與家人是水晶球，碎了就無法復原。</a:t>
            </a:r>
          </a:p>
          <a:p>
            <a:r>
              <a:t>③ 下一頁轉場：在守護好水晶球之後，我們如何激發事業與工作中的無限熱情？版型 4 展示熱情的生成機制。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4：連鎖論法 (Chain Flow) ｜ Accenture</a:t>
            </a:r>
          </a:p>
          <a:p>
            <a:r>
              <a:t>① 本頁結論：先有精通與勝任，才會有持久的熱愛。</a:t>
            </a:r>
          </a:p>
          <a:p>
            <a:r>
              <a:t>② 補充說明：很多人抱怨找不到熱情，是因為他們在第一階段遇到困難就放棄，未曾體驗過勝任感帶來的美妙反饋。</a:t>
            </a:r>
          </a:p>
          <a:p>
            <a:r>
              <a:t>③ 下一頁轉場：在成長的不同階段，我們會面臨截然不同的瓶頸，版型 5 麥肯錫論法為我們提供全流程診斷。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5：麥肯錫論法 (McKinsey Matrix) ｜ McKinsey &amp; Company</a:t>
            </a:r>
          </a:p>
          <a:p>
            <a:r>
              <a:t>① 本頁結論：在起步期需要勇氣，在擴張期需要專注，在成熟期則需要放棄的智慧。</a:t>
            </a:r>
          </a:p>
          <a:p>
            <a:r>
              <a:t>② 補充說明：史蒂文在 Social Chain 市值最高時辭去 CEO，就是因為他在成熟期看清了自己的成長邊際效應已經遞減。</a:t>
            </a:r>
          </a:p>
          <a:p>
            <a:r>
              <a:t>③ 下一頁轉場：這正是下一頁我們要探討的核心觀念：為什麼聰明的放棄才是真正贏家的標誌。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6：對立論法 (Opposition) ｜ BCG (Boston Consulting Group)</a:t>
            </a:r>
          </a:p>
          <a:p>
            <a:r>
              <a:t>① 本頁結論：堅持是為了抵達目標的手段，而非目標本身。</a:t>
            </a:r>
          </a:p>
          <a:p>
            <a:r>
              <a:t>② 補充說明：如果這艘船已經破洞且航向錯誤，最勇敢的決定不是更賣力地划船，而是果斷跳上救生艇航向新大陸。</a:t>
            </a:r>
          </a:p>
          <a:p>
            <a:r>
              <a:t>③ 下一頁轉場：當我們聚焦新方向時，如何建立不可替代的競爭優勢？答案不是單一苦練，而是技能疊加。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7：比較論法 (Comparison) ｜ McKinsey &amp; Company</a:t>
            </a:r>
          </a:p>
          <a:p>
            <a:r>
              <a:t>① 本頁結論：技能疊加是普通人躍遷為不可替代領袖的最優解。</a:t>
            </a:r>
          </a:p>
          <a:p>
            <a:r>
              <a:t>② 補充說明：史蒂文不是全世界最厲害的程式設計師，也不是最頂級的播客，但當他把商業、演講與社群敏銳度融合時，他成為了不可複製的唯一。</a:t>
            </a:r>
          </a:p>
          <a:p>
            <a:r>
              <a:t>③ 下一頁轉場：有了這套技能護城河，我們該如何在人生賭局中下注？版型 8 BCG 矩陣給出了完美的策略坐標。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8：BCG 論法 (BCG 2×2 Matrix) ｜ BCG (Boston Consulting Group)</a:t>
            </a:r>
          </a:p>
          <a:p>
            <a:r>
              <a:t>① 本頁結論：真正的智者不是不冒險，而是只在右上角象限積極下注。</a:t>
            </a:r>
          </a:p>
          <a:p>
            <a:r>
              <a:t>② 補充說明：最優秀的企業家永遠在尋找正非對稱機會：輸了只不過損失幾百個小時或少許資金，但一旦爆發將帶來數百倍回報。</a:t>
            </a:r>
          </a:p>
          <a:p>
            <a:r>
              <a:t>③ 下一頁轉場：在認知與策略到位後，如何落實為日常無痛執行的生活系統？版型 4 剖析摩擦力工程。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4：連鎖論法 (Chain Flow) ｜ Accenture</a:t>
            </a:r>
          </a:p>
          <a:p>
            <a:r>
              <a:t>① 本頁結論：永遠不要考驗意志力，要信任環境設計。</a:t>
            </a:r>
          </a:p>
          <a:p>
            <a:r>
              <a:t>② 補充說明：成功人士不是因為自律更強，而是因為他們的環境讓正確的事情阻力最小，讓分心的事情極端麻煩。</a:t>
            </a:r>
          </a:p>
          <a:p>
            <a:r>
              <a:t>③ 下一頁轉場：最後，讓我們將全書智慧彙整為終極行動落地綱領。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(Parallel) ｜ McKinsey &amp; Company</a:t>
            </a:r>
          </a:p>
          <a:p>
            <a:r>
              <a:t>① 本頁結論：當你掌握了這三大支柱，你就真正成為了精神與物質雙重富足的『快樂百萬富翁』。</a:t>
            </a:r>
          </a:p>
          <a:p>
            <a:r>
              <a:t>② 補充說明：財富是創造價值的副產品，而平靜是與自我和解的終極獎賞。</a:t>
            </a:r>
          </a:p>
          <a:p>
            <a:r>
              <a:t>③ 下一頁轉場：感謝各位的聆聽，歡迎在知識庫門戶中繼續深入查閱 20 章完整內容與各模組簡報！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463040"/>
            <a:ext cx="16459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ZERO-NOISE CONSULTING BRIEFING  |  McKinsey・BCG・Accenture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《快樂性感的百萬富翁》無雜訊管顧精華導讀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核心主張：財富、性感與外在認同無法兌現永恆的快樂：以內在動機、技能疊加與非對稱下注，構建抗脆弱的人生富足模型。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AC4D2"/>
                </a:solidFill>
              </a:defRPr>
            </a:pPr>
            <a:r>
              <a:t>作者：史蒂文．巴列特 (Steven Bartlett) ｜ 方法論：前 BCG 顧問森秀明《無雜訊簡報製作法》 ｜ 大衛人生・財富智慧知識庫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100FF"/>
                </a:solidFill>
              </a:defRPr>
            </a:pPr>
            <a:r>
              <a:t>策略全景  ｜  版型 2：並列論法 (Parallel)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① 主張：擺脫外在認同陷阱，需循序推進『破除迷思 ➔ 內在火花 ➔ 技能疊加 ➔ 非對稱下注』四階躍遷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將全書 20 章解構為四大彼此支撐的認知轉型模組（Accenture Bento Card 模組化卡片）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《快樂性感的百萬富翁》全書架構解構 ｜ Accenture Modern Bento Grid Style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476423" cy="4297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2476423" cy="5029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模組 1：破除虛妄迷思 (01~04章)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110663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1. 看穿體制權力運作，不作無謂衝撞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2. 破除『等我成功就快樂』抵達謬誤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3. 演化比較有益生存，無益當代心靈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4. 告別卡戴珊式虛榮指標與符號崇拜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2263" y="1874519"/>
            <a:ext cx="2476423" cy="4297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2263" y="1874519"/>
            <a:ext cx="2476423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模組 2：重構驅動力與雜耍 (05~08章)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5143" y="2514600"/>
            <a:ext cx="2110663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1. 在破產困頓中點燃內在動機火花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2. 工作是橡膠球，健康家庭是水晶球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3. 打破非黑即白的極端二元思維框架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4. 去模板化，以真實脆弱構築親密關係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2476423" cy="4297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874519"/>
            <a:ext cx="2476423" cy="5029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模組 3：創造熱情與策略放手 (09~11章)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514600"/>
            <a:ext cx="2110663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1. 熱情非等待發掘，而是投入之副產品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2. 摘下完美成功者面具，回歸真實同理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3. 克服沉沒成本，在頂峰勇於策略放手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4. 視戰略性放棄為高階資源重配置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3751" y="1874519"/>
            <a:ext cx="2476423" cy="4297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83751" y="1874519"/>
            <a:ext cx="2476423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模組 4：下注人生與技能複利 (12~20章)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6631" y="2514600"/>
            <a:ext cx="2110663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1. 在刺激與反應間建立心理緩衝區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2. 愛因斯坦複利奇蹟在技能與信用爆發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3. 以物理阻力工程學取代不可靠意志力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4. 技能疊加法＋非對稱下注翻轉期望值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認知重構  ｜  版型 6：對立論法 (Opposition)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主張：抵達特定財富里程碑無法保證幸福，唯有轉向『無限遊戲』才能獲得持續滿足感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有限遊戲（有限目標與短暫快感）vs. 無限遊戲（持續演進與過程心流）多維度橫向對照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《快樂性感的百萬富翁》第 2 章 ｜ BCG Dual-Stream Opposition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828800"/>
            <a:ext cx="4297680" cy="502920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有限遊戲模式（抵達謬誤陷阱）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828800"/>
            <a:ext cx="4297680" cy="502920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無限遊戲模式（當下心流富足）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1737360" cy="868680"/>
          </a:xfrm>
          <a:prstGeom prst="ellipse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核心目標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468880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追求在特定時間點『獲勝』並結束戰局（如IPO、存款破億）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468880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讓遊戲能夠持續玩下去，享受能力成長與探索過程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47288"/>
            <a:ext cx="1737360" cy="868680"/>
          </a:xfrm>
          <a:prstGeom prst="ellipse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快樂定義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447288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把幸福當作抵達終點線後的兌現券，陷入漫長痛苦等待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447288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快樂是全情投入當下行動的副產品，此刻即是完成式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425696"/>
            <a:ext cx="1737360" cy="868680"/>
          </a:xfrm>
          <a:prstGeom prst="ellipse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面對挫折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425696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視為全盤失敗與自我否定，容易產生冒牌者焦慮與無力感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425696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視為系統迭代的珍貴反饋，將阻礙轉化為新的前進養分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404104"/>
            <a:ext cx="1737360" cy="868680"/>
          </a:xfrm>
          <a:prstGeom prst="ellipse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驅動燃料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5404104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外在認同、社會期待、豪車豪宅等虛榮指標（易枯竭）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5404104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自主感 (Autonomy)、勝任感 (Competence) 與深度連結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環境診斷  ｜  版型 1：一對一論法 (One-to-One)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主張：社群媒體成癮使當代青年焦慮感暴增至 70%，根源在於演化比較機制被惡意放大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大腦演化是為了小部落生存而比較，演算法卻將參照群擴展為全球前 0.001% 的精緻假象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《快樂性感的百萬富翁》第 3-4 章 ｜ McKinsey High-Impact Callout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5316" y="5165053"/>
            <a:ext cx="777240" cy="595666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8156" y="4817581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2436" y="5833872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紙本閱讀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38627" y="4867220"/>
            <a:ext cx="777240" cy="893499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1468" y="4519748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5747" y="5833872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廣播音訊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1940" y="4470109"/>
            <a:ext cx="777240" cy="1290610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4780" y="4122637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9060" y="5833872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長篇影音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5252" y="4023360"/>
            <a:ext cx="777240" cy="1737360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8092" y="3675888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2372" y="5833872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t>主動搜尋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98564" y="2286000"/>
            <a:ext cx="777240" cy="3474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1404" y="1938528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51C2C"/>
                </a:solidFill>
              </a:defRPr>
            </a:pPr>
            <a:r>
              <a:t>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5684" y="5833872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社群限動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011680"/>
            <a:ext cx="3200400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19456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② 管顧深度診斷 (McKinsey)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演化本能：大腦透過比較評估資源位階以求生存，原適用於數十人的部落環境。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演算法扭曲：Instagram 與 TikTok 每天推送全球頂級富豪生活，觸發強烈相對剝奪感。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解毒處方：將比較錨點由『橫向社群攀比』轉為『今日之我 vs. 昨日之我』縱向成長。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資源分配  ｜  版型 3：結合論法 (Combined Tree)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主張：卓越人生雜耍並非兼顧所有事項，而是確保水晶球不墜的前提下靈活調度橡膠球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多個條件同時成立推導結論：區分不可逆資產與可替代資產是維持人生抗脆弱的根本前題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《快樂性感的百萬富翁》第 6 章 ｜ BCG Combined Tree Layout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783080"/>
            <a:ext cx="8138160" cy="731520"/>
          </a:xfrm>
          <a:prstGeom prst="round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人生雜耍的終極法則：以不可妥協的水晶球防護線，換取橡膠球事業的長程彈性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193792" cy="777240"/>
          </a:xfrm>
          <a:prstGeom prst="round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② 主要素 1：不可逆資產（一跌即碎的水晶球）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639824" cy="2286000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身體與心智健康：長期慢性過勞與精神損耗無法靠金錢贖回，碎了即留疤痕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8504" y="3840480"/>
            <a:ext cx="1639824" cy="2286000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9944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親密關係與家庭：缺席孩子的成長與伴侶的信任危機，屬於高不可逆情感資產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5488" y="3840480"/>
            <a:ext cx="1639824" cy="2286000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6928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誠信與核心價值：個人聲譽一旦在商業或道德上破產，東山再起成本極為巨大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88920"/>
            <a:ext cx="5193792" cy="777240"/>
          </a:xfrm>
          <a:prstGeom prst="round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② 主要素 2：可替代資產（落地會彈起的橡膠球）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40480"/>
            <a:ext cx="1639824" cy="2286000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工作職銜與升遷：短期的職務變動與專案失利，掉到地上隨時具備反彈彈性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0624" y="3840480"/>
            <a:ext cx="1639824" cy="2286000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2063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商業合約與收益：一次交易的失敗不代表終局，市場永遠存在下一波景氣機會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7608" y="3840480"/>
            <a:ext cx="1639824" cy="2286000"/>
          </a:xfrm>
          <a:prstGeom prst="roundRect">
            <a:avLst/>
          </a:prstGeom>
          <a:solidFill>
            <a:srgbClr val="F3F4F6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9048" y="3931920"/>
            <a:ext cx="145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外在聲望與評價：公眾的掌聲或批評半衰期極短，切忌為此犧牲核心水晶球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100FF"/>
                </a:solidFill>
              </a:defRPr>
            </a:pPr>
            <a:r>
              <a:t>行動機制  ｜  版型 4：連鎖論法 (Chain Flow)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① 主張：熱情不是等待被發掘的神秘寶藏，而是遵循『好奇 ➔ 投入 ➔ 勝任 ➔ 熱愛』之因果閉環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打破原地等待靈感的『尋找熱情毒雞湯』，以端到端正向反饋鏈條主動激發生命熱能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《快樂性感的百萬富翁》第 9 章 ｜ Accenture Chevron Chain Flow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" y="1874519"/>
            <a:ext cx="10728655" cy="384048"/>
          </a:xfrm>
          <a:prstGeom prst="rightArrow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熱情生成的因果遞進鏈條：從微小好奇到不可阻擋的內在動力迴路  ───►</a:t>
            </a:r>
          </a:p>
        </p:txBody>
      </p:sp>
      <p:sp>
        <p:nvSpPr>
          <p:cNvPr id="8" name="Chevron 7"/>
          <p:cNvSpPr/>
          <p:nvPr/>
        </p:nvSpPr>
        <p:spPr>
          <a:xfrm>
            <a:off x="731520" y="2468880"/>
            <a:ext cx="2510713" cy="77724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階段 1：微小好奇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2510713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不預設宏大人生使命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跟隨微小的興趣線索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降低啟動門檻主動嘗試</a:t>
            </a:r>
          </a:p>
        </p:txBody>
      </p:sp>
      <p:sp>
        <p:nvSpPr>
          <p:cNvPr id="11" name="Chevron 10"/>
          <p:cNvSpPr/>
          <p:nvPr/>
        </p:nvSpPr>
        <p:spPr>
          <a:xfrm>
            <a:off x="3470833" y="2468880"/>
            <a:ext cx="2510713" cy="77724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階段 2：深度投入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0833" y="3383280"/>
            <a:ext cx="2510713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3713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承諾至少 30 天密集實踐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親自上手解決具體問題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在實踐中累積初始作品</a:t>
            </a:r>
          </a:p>
        </p:txBody>
      </p:sp>
      <p:sp>
        <p:nvSpPr>
          <p:cNvPr id="14" name="Chevron 13"/>
          <p:cNvSpPr/>
          <p:nvPr/>
        </p:nvSpPr>
        <p:spPr>
          <a:xfrm>
            <a:off x="6210147" y="2468880"/>
            <a:ext cx="2510713" cy="77724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階段 3：勝任反饋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383280"/>
            <a:ext cx="2510713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技術突破帶來掌控感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獲得真實市場或用戶認可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激發深層自我效能感</a:t>
            </a:r>
          </a:p>
        </p:txBody>
      </p:sp>
      <p:sp>
        <p:nvSpPr>
          <p:cNvPr id="17" name="Chevron 16"/>
          <p:cNvSpPr/>
          <p:nvPr/>
        </p:nvSpPr>
        <p:spPr>
          <a:xfrm>
            <a:off x="8949461" y="2468880"/>
            <a:ext cx="2510713" cy="777240"/>
          </a:xfrm>
          <a:prstGeom prst="chevron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階段 4：淬鍊熱愛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9461" y="3383280"/>
            <a:ext cx="2510713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2341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能力精通演化為自主熱情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形成持續自我驅動閉環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成為該領域卓越引領者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矩陣診斷  ｜  版型 5：麥肯錫論法 (McKinsey Matrix)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主張：沿著創業與個人生命週期診斷，最大盲點在於成熟期不願放手與沉沒成本執念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橫軸成長三階段（探索期、擴張期、成熟轉型期）× 縱軸認知盲點與管顧突破方案交織矩陣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《快樂性感的百萬富翁》第 5、11、15 章 ｜ McKinsey Process Diagnostic Matrix</a:t>
            </a:r>
          </a:p>
        </p:txBody>
      </p:sp>
      <p:sp>
        <p:nvSpPr>
          <p:cNvPr id="7" name="Chevron 6"/>
          <p:cNvSpPr/>
          <p:nvPr/>
        </p:nvSpPr>
        <p:spPr>
          <a:xfrm>
            <a:off x="2834640" y="1828800"/>
            <a:ext cx="2753258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階段 1：起步探索期</a:t>
            </a:r>
          </a:p>
        </p:txBody>
      </p:sp>
      <p:sp>
        <p:nvSpPr>
          <p:cNvPr id="8" name="Chevron 7"/>
          <p:cNvSpPr/>
          <p:nvPr/>
        </p:nvSpPr>
        <p:spPr>
          <a:xfrm>
            <a:off x="5770778" y="1828800"/>
            <a:ext cx="2753258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階段 2：規模擴張期</a:t>
            </a:r>
          </a:p>
        </p:txBody>
      </p:sp>
      <p:sp>
        <p:nvSpPr>
          <p:cNvPr id="9" name="Chevron 8"/>
          <p:cNvSpPr/>
          <p:nvPr/>
        </p:nvSpPr>
        <p:spPr>
          <a:xfrm>
            <a:off x="8706916" y="1828800"/>
            <a:ext cx="2753258" cy="59436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階段 3：成熟轉型期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1920240" cy="1691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核心困境與盲點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606040"/>
            <a:ext cx="2753258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缺乏資源與方向，容易被社會主流二元標準恐嚇而不敢行動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70778" y="2606040"/>
            <a:ext cx="2753258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7938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被短暫外在讚譽誘惑，整日陷入忙碌事務，忽略深度思考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06916" y="2606040"/>
            <a:ext cx="2753258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4076" y="274320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深陷沉沒成本謬誤，明知曲線已見頂卻因不捨過去投入而死守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1920240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顧問突破解方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4480560"/>
            <a:ext cx="2753258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點燃內在微小火花，允許灰度探索，快速以低成本試錯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0778" y="4480560"/>
            <a:ext cx="2753258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938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建立週一無會議心流結界，以阻力工程自動化常規運作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6916" y="4480560"/>
            <a:ext cx="2753258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44076" y="4617720"/>
            <a:ext cx="247893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踐行戰略性放棄 (Strategic Quitting)，在頂峰優雅轉向下一個非對稱戰場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決策科學  ｜  版型 6：對立論法 (Opposition)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主張：盲目堅持 (Blind Grit) 加速滅頂，及時割捨沉沒成本是邁向新成長曲線的最高戰略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盲目死守（沉沒成本驅動）vs. 戰略性放棄（未來期望值驅動）之決策維度橫向對照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《快樂性感的百萬富翁》第 11 章 ｜ BCG Strategic Opposition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828800"/>
            <a:ext cx="4297680" cy="502920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盲目堅持陷阱（沉沒成本綁架）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828800"/>
            <a:ext cx="4297680" cy="502920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戰略性放棄（期望值決策）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1737360" cy="868680"/>
          </a:xfrm>
          <a:prstGeom prst="ellipse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決策錨點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468880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聚焦過去投入的時間、資金與汗水（『我已經努力了三年...』）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468880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只看未來一單位時間與資源能否產生最大邊際報酬與心流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47288"/>
            <a:ext cx="1737360" cy="868680"/>
          </a:xfrm>
          <a:prstGeom prst="ellipse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心理感知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447288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將放棄視為恥辱、怯懦與失敗，死守即將沉沒的破船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447288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視為最高級別的戰略聚焦，勇於終止低回報專案以解放產能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425696"/>
            <a:ext cx="1737360" cy="868680"/>
          </a:xfrm>
          <a:prstGeom prst="ellipse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能量狀態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425696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在慢性焦慮與熱情枯竭中硬撐，精神健康持續惡化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425696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卸下沉重心理包袱，將頂級能量重定向至更具潛力的戰場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404104"/>
            <a:ext cx="1737360" cy="868680"/>
          </a:xfrm>
          <a:prstGeom prst="ellipse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最終格局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5404104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被困在平庸天花板，錯失真正改變命運的第二條 S 曲線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5404104"/>
            <a:ext cx="429768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如史蒂文辭去 CEO 創立頂級 Podcast，實現指數級人生躍遷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競爭戰略  ｜  版型 7：比較論法 (Comparison)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主張：無須在單一領域苦練至世界第一，將 2~3 項前 15% 技能疊加即可建構全球前 1% 護城河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單一專家路線 vs. 技能疊加組合拳之共通底層與關鍵差異化解析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《快樂性感的百萬富翁》第 18 章 ｜ McKinsey Comparison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747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965960"/>
            <a:ext cx="3474720" cy="41148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1965960"/>
            <a:ext cx="34747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051C2C"/>
                </a:solidFill>
              </a:defRPr>
            </a:pPr>
            <a:r>
              <a:t>① 單一極限專才（差異點）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必須在單一狹窄賽道達到全球前 0.01%（如頂尖小提琴家、奧運選手）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競爭極度內卷殘酷，依賴極端天賦、運氣與早期家庭資源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抗風險能力極弱：一旦產業變革或遭遇意外，技能價值大幅歸零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D97706"/>
                </a:solidFill>
              </a:defRPr>
            </a:pPr>
            <a:r>
              <a:t>③ 交集：核心共通點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兩者皆要求超越普通大眾平均水準（前 15% 門檻）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皆需具備扎實的刻意練習與基本功底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皆需轉化為可交付市場價值的商業成果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1E3A8A"/>
                </a:solidFill>
              </a:defRPr>
            </a:pPr>
            <a:r>
              <a:t>① 技能疊加高手（差異點）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只需在 2~3 個互補領域達到前 15%（普通人經努力皆可達成）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例如：商業洞察 (前15%) + 社群行銷 (前15%) + 說故事表達 (前15%)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三者交織出獨一無二的稀缺生態位，形成無懈可擊的個人品牌護城河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期望值決策  ｜  版型 8：BCG 論法 (BCG 2×2 Matrix)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主張：人生是期望值博弈，全力佈局『下檔風險有限、上檔收益無限』的右上角非對稱象限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縱軸潛在收益維度 × 橫軸潛在損失維度之人生決策期望值四象限佈局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《快樂性感的百萬富翁》第 19 章 ｜ BCG 2x2 Decision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1371600" cy="3749039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② 縱軸 Y：潛在收益空間</a:t>
            </a:r>
            <a:br/>
            <a:r>
              <a:t>（無限爆發 ▲ / 線性微薄 ▼）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5760720"/>
            <a:ext cx="9052560" cy="438912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◄ 致命代價 (高不可逆)          ② 橫軸 X：下檔風險承擔度          可控代價 (低風險損耗) 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874519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011679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象限 1：負非對稱高危區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收益有限但風險巨大：如非法交易、高槓桿投機、冒險違規。贏了只拿微薄收益，一旦出事滿盤皆輸，堅決避開。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874519"/>
            <a:ext cx="4434840" cy="1810512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2011679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4F32"/>
                </a:solidFill>
              </a:defRPr>
            </a:pPr>
            <a:r>
              <a:t>象限 2：正非對稱暴擊區（目標焦點）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下檔損失極其有限，上檔潛力無窮無盡：如寫一本書、創立 Podcast、學習 AI 技能、投資高潛力種子專案。輸了只耗損時間，贏了帶來百年複利！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822191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3959352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象限 3：毀滅性賭徒區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收益微薄且損失無底洞：深陷有害嗜好、盲目沉溺賭場、維持有毒關係。既無法累積資產，又摧毀心智，必須徹底清除。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822191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3959352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象限 4：平庸對稱區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收益與損失皆線性可測：如單純出售固定工時換取死工資。具備基本生活保障，但無法實現資產與人生的階級躍遷。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100FF"/>
                </a:solidFill>
              </a:defRPr>
            </a:pPr>
            <a:r>
              <a:t>執行系統  ｜  版型 4：連鎖論法 (Chain Flow)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① 主張：意志力是易損耗的有限資源，唯有透過物理摩擦力重構才能鎖定自動化高效執行系統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以『好習慣摩擦力降至零、壞衝動人為築高牆』的阻力管線，打造不依賴動力的強韌系統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《快樂性感的百萬富翁》第 15、17 章 ｜ Accenture System Pipeline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" y="1874519"/>
            <a:ext cx="10728655" cy="384048"/>
          </a:xfrm>
          <a:prstGeom prst="rightArrow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摩擦力工程學實施管線：從誘因排查到心流結界防護  ───►</a:t>
            </a:r>
          </a:p>
        </p:txBody>
      </p:sp>
      <p:sp>
        <p:nvSpPr>
          <p:cNvPr id="8" name="Chevron 7"/>
          <p:cNvSpPr/>
          <p:nvPr/>
        </p:nvSpPr>
        <p:spPr>
          <a:xfrm>
            <a:off x="731520" y="2468880"/>
            <a:ext cx="2510713" cy="77724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步驟 1：阻力審計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2510713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盤點每日高頻拖延節點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揪出耗損意志力的隱形摩擦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承認意志力的軟弱與不可靠</a:t>
            </a:r>
          </a:p>
        </p:txBody>
      </p:sp>
      <p:sp>
        <p:nvSpPr>
          <p:cNvPr id="11" name="Chevron 10"/>
          <p:cNvSpPr/>
          <p:nvPr/>
        </p:nvSpPr>
        <p:spPr>
          <a:xfrm>
            <a:off x="3470833" y="2468880"/>
            <a:ext cx="2510713" cy="77724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步驟 2：優質習慣零阻力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0833" y="3383280"/>
            <a:ext cx="2510713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3713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前一晚將運動裝備備齊在床邊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開機即進入寫作與編程介面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讓健康飲食觸手可及</a:t>
            </a:r>
          </a:p>
        </p:txBody>
      </p:sp>
      <p:sp>
        <p:nvSpPr>
          <p:cNvPr id="14" name="Chevron 13"/>
          <p:cNvSpPr/>
          <p:nvPr/>
        </p:nvSpPr>
        <p:spPr>
          <a:xfrm>
            <a:off x="6210147" y="2468880"/>
            <a:ext cx="2510713" cy="77724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步驟 3：不良誘因高築牆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383280"/>
            <a:ext cx="2510713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手機設置灰階並鎖入抽屜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刪除購物與無效社群應用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製造 3 道以上操作摩擦阻力</a:t>
            </a:r>
          </a:p>
        </p:txBody>
      </p:sp>
      <p:sp>
        <p:nvSpPr>
          <p:cNvPr id="17" name="Chevron 16"/>
          <p:cNvSpPr/>
          <p:nvPr/>
        </p:nvSpPr>
        <p:spPr>
          <a:xfrm>
            <a:off x="8949461" y="2468880"/>
            <a:ext cx="2510713" cy="777240"/>
          </a:xfrm>
          <a:prstGeom prst="chevron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步驟 4：心流時段絕對結界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9461" y="3383280"/>
            <a:ext cx="2510713" cy="274320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2341" y="3520440"/>
            <a:ext cx="214495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建立史蒂文式『週一無會議』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防衛上午頂級認知能量頻寬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▪ 讓核心創造力在無干擾中爆發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行動落地  ｜  版型 2：並列論法 (Parallel)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主張：將《快樂性感的百萬富翁》化為日常力量，建立認知、系統與下注三位一體實踐綱領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終結焦慮、重獲掌控、實現富足的管顧級個人轉型行動清單（McKinsey Three Pillars）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大衛人生・財富智慧知識庫 ｜ McKinsey Tri-Pillar Action 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支柱 1：認知解毒防護網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破除抵達謬誤：在當下無限遊戲中品味心流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重構比較錨點：只對標昨日之我，取消焦慮追蹤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擁抱灰度思考：跳出非黑即白的二元偏狹陷阱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自我終極和解：擁抱過往不完美的日記與創傷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1874519"/>
            <a:ext cx="3393338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支柱 2：能量與防禦系統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五球雜耍守則：死守健康與家庭水晶球底線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保護心流時段：每週劃定無會議深度工作專區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行為阻力工程：好習慣零摩擦，壞誘因築高牆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情緒 24 小時冷卻：在刺激與回應間拉開安全距離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支柱 3：非對稱下注與疊加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技能疊加法：組合 2~3 項前 15% 技能成唯一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戰略性放棄：拒絕沉沒成本，在頂峰勇於轉向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正非對稱下注：只參與輸得起、贏得大的博弈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全面複利思維：在信任、知識與能力上持續長跑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